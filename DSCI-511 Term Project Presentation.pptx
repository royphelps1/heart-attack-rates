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22" r:id="rId5"/>
    <p:sldId id="323" r:id="rId6"/>
    <p:sldId id="320" r:id="rId7"/>
    <p:sldId id="321" r:id="rId8"/>
    <p:sldId id="324" r:id="rId9"/>
    <p:sldId id="326" r:id="rId10"/>
    <p:sldId id="328" r:id="rId11"/>
    <p:sldId id="327" r:id="rId12"/>
    <p:sldId id="325" r:id="rId13"/>
    <p:sldId id="329" r:id="rId14"/>
    <p:sldId id="31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5388" autoAdjust="0"/>
  </p:normalViewPr>
  <p:slideViewPr>
    <p:cSldViewPr snapToGrid="0">
      <p:cViewPr varScale="1">
        <p:scale>
          <a:sx n="105" d="100"/>
          <a:sy n="105" d="100"/>
        </p:scale>
        <p:origin x="996" y="114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 Wessel" userId="2f289fb6-614b-4772-85ee-939dc2da211f" providerId="ADAL" clId="{8080167E-4193-4373-A5F6-0811C81B2DE7}"/>
    <pc:docChg chg="custSel modSld sldOrd">
      <pc:chgData name="Evan Wessel" userId="2f289fb6-614b-4772-85ee-939dc2da211f" providerId="ADAL" clId="{8080167E-4193-4373-A5F6-0811C81B2DE7}" dt="2025-11-22T17:24:23.554" v="1007" actId="20577"/>
      <pc:docMkLst>
        <pc:docMk/>
      </pc:docMkLst>
      <pc:sldChg chg="modSp mod">
        <pc:chgData name="Evan Wessel" userId="2f289fb6-614b-4772-85ee-939dc2da211f" providerId="ADAL" clId="{8080167E-4193-4373-A5F6-0811C81B2DE7}" dt="2025-11-22T17:24:23.554" v="1007" actId="20577"/>
        <pc:sldMkLst>
          <pc:docMk/>
          <pc:sldMk cId="661461779" sldId="323"/>
        </pc:sldMkLst>
        <pc:spChg chg="mod">
          <ac:chgData name="Evan Wessel" userId="2f289fb6-614b-4772-85ee-939dc2da211f" providerId="ADAL" clId="{8080167E-4193-4373-A5F6-0811C81B2DE7}" dt="2025-11-22T17:24:23.554" v="1007" actId="20577"/>
          <ac:spMkLst>
            <pc:docMk/>
            <pc:sldMk cId="661461779" sldId="323"/>
            <ac:spMk id="3" creationId="{5EAD24B0-16AD-4389-9DD2-B74B24E66382}"/>
          </ac:spMkLst>
        </pc:spChg>
      </pc:sldChg>
      <pc:sldChg chg="ord">
        <pc:chgData name="Evan Wessel" userId="2f289fb6-614b-4772-85ee-939dc2da211f" providerId="ADAL" clId="{8080167E-4193-4373-A5F6-0811C81B2DE7}" dt="2025-11-22T17:21:52.753" v="985"/>
        <pc:sldMkLst>
          <pc:docMk/>
          <pc:sldMk cId="1392312632" sldId="325"/>
        </pc:sldMkLst>
      </pc:sldChg>
      <pc:sldChg chg="modSp mod">
        <pc:chgData name="Evan Wessel" userId="2f289fb6-614b-4772-85ee-939dc2da211f" providerId="ADAL" clId="{8080167E-4193-4373-A5F6-0811C81B2DE7}" dt="2025-11-22T16:33:07.042" v="287" actId="20577"/>
        <pc:sldMkLst>
          <pc:docMk/>
          <pc:sldMk cId="3247368600" sldId="326"/>
        </pc:sldMkLst>
        <pc:spChg chg="mod">
          <ac:chgData name="Evan Wessel" userId="2f289fb6-614b-4772-85ee-939dc2da211f" providerId="ADAL" clId="{8080167E-4193-4373-A5F6-0811C81B2DE7}" dt="2025-11-22T16:33:07.042" v="287" actId="20577"/>
          <ac:spMkLst>
            <pc:docMk/>
            <pc:sldMk cId="3247368600" sldId="326"/>
            <ac:spMk id="3" creationId="{0BB7CAB4-7460-07A6-ED6D-9A9848DA483F}"/>
          </ac:spMkLst>
        </pc:spChg>
      </pc:sldChg>
      <pc:sldChg chg="modSp mod ord">
        <pc:chgData name="Evan Wessel" userId="2f289fb6-614b-4772-85ee-939dc2da211f" providerId="ADAL" clId="{8080167E-4193-4373-A5F6-0811C81B2DE7}" dt="2025-11-22T17:21:59.034" v="987"/>
        <pc:sldMkLst>
          <pc:docMk/>
          <pc:sldMk cId="3340376101" sldId="327"/>
        </pc:sldMkLst>
        <pc:spChg chg="mod">
          <ac:chgData name="Evan Wessel" userId="2f289fb6-614b-4772-85ee-939dc2da211f" providerId="ADAL" clId="{8080167E-4193-4373-A5F6-0811C81B2DE7}" dt="2025-11-22T16:50:49.260" v="551" actId="20577"/>
          <ac:spMkLst>
            <pc:docMk/>
            <pc:sldMk cId="3340376101" sldId="327"/>
            <ac:spMk id="3" creationId="{D91C94F7-211A-A43B-5E6A-A13945028342}"/>
          </ac:spMkLst>
        </pc:spChg>
      </pc:sldChg>
      <pc:sldChg chg="addSp delSp modSp mod ord">
        <pc:chgData name="Evan Wessel" userId="2f289fb6-614b-4772-85ee-939dc2da211f" providerId="ADAL" clId="{8080167E-4193-4373-A5F6-0811C81B2DE7}" dt="2025-11-22T17:22:20.511" v="991"/>
        <pc:sldMkLst>
          <pc:docMk/>
          <pc:sldMk cId="852871180" sldId="328"/>
        </pc:sldMkLst>
        <pc:spChg chg="mod">
          <ac:chgData name="Evan Wessel" userId="2f289fb6-614b-4772-85ee-939dc2da211f" providerId="ADAL" clId="{8080167E-4193-4373-A5F6-0811C81B2DE7}" dt="2025-11-22T17:17:44.518" v="983" actId="20577"/>
          <ac:spMkLst>
            <pc:docMk/>
            <pc:sldMk cId="852871180" sldId="328"/>
            <ac:spMk id="2" creationId="{0DE6FB1F-65FB-F8F1-E56B-162E9B793613}"/>
          </ac:spMkLst>
        </pc:spChg>
        <pc:spChg chg="add del mod">
          <ac:chgData name="Evan Wessel" userId="2f289fb6-614b-4772-85ee-939dc2da211f" providerId="ADAL" clId="{8080167E-4193-4373-A5F6-0811C81B2DE7}" dt="2025-11-22T16:56:27.097" v="646" actId="20577"/>
          <ac:spMkLst>
            <pc:docMk/>
            <pc:sldMk cId="852871180" sldId="328"/>
            <ac:spMk id="3" creationId="{3E5CFA9B-1FB4-4B12-8AA6-D713AD1C555B}"/>
          </ac:spMkLst>
        </pc:spChg>
        <pc:graphicFrameChg chg="add mod">
          <ac:chgData name="Evan Wessel" userId="2f289fb6-614b-4772-85ee-939dc2da211f" providerId="ADAL" clId="{8080167E-4193-4373-A5F6-0811C81B2DE7}" dt="2025-11-22T16:53:37.110" v="553"/>
          <ac:graphicFrameMkLst>
            <pc:docMk/>
            <pc:sldMk cId="852871180" sldId="328"/>
            <ac:graphicFrameMk id="5" creationId="{45A09BD3-245F-173D-3B11-2AB05B54A03D}"/>
          </ac:graphicFrameMkLst>
        </pc:graphicFrameChg>
      </pc:sldChg>
      <pc:sldChg chg="modSp mod">
        <pc:chgData name="Evan Wessel" userId="2f289fb6-614b-4772-85ee-939dc2da211f" providerId="ADAL" clId="{8080167E-4193-4373-A5F6-0811C81B2DE7}" dt="2025-11-22T17:16:17.199" v="961" actId="20577"/>
        <pc:sldMkLst>
          <pc:docMk/>
          <pc:sldMk cId="3531792496" sldId="329"/>
        </pc:sldMkLst>
        <pc:spChg chg="mod">
          <ac:chgData name="Evan Wessel" userId="2f289fb6-614b-4772-85ee-939dc2da211f" providerId="ADAL" clId="{8080167E-4193-4373-A5F6-0811C81B2DE7}" dt="2025-11-22T17:16:17.199" v="961" actId="20577"/>
          <ac:spMkLst>
            <pc:docMk/>
            <pc:sldMk cId="3531792496" sldId="329"/>
            <ac:spMk id="3" creationId="{DD521BA1-2757-72F8-CF0C-CBDE89996C2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1963" y="204942"/>
            <a:ext cx="7927985" cy="216262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Cardiovascular Health Risk Factors </a:t>
            </a:r>
            <a:br>
              <a:rPr lang="en-US" sz="3600" dirty="0"/>
            </a:br>
            <a:r>
              <a:rPr lang="en-US" sz="2000" dirty="0"/>
              <a:t>DSCI-511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532C45-6A36-2DA1-6320-C3D94C7952BE}"/>
              </a:ext>
            </a:extLst>
          </p:cNvPr>
          <p:cNvSpPr txBox="1"/>
          <p:nvPr/>
        </p:nvSpPr>
        <p:spPr>
          <a:xfrm>
            <a:off x="1728215" y="5266217"/>
            <a:ext cx="95554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Presented by: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</a:rPr>
              <a:t>Roy Phelps, Shad Scarboro, Leland Weeks, Evan Wessel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E5578-31C6-B09B-17BB-17ACE24C3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D24B0-16AD-4389-9DD2-B74B24E6638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34181" y="862466"/>
            <a:ext cx="4449712" cy="5407091"/>
          </a:xfrm>
        </p:spPr>
        <p:txBody>
          <a:bodyPr/>
          <a:lstStyle/>
          <a:p>
            <a:r>
              <a:rPr lang="en-US" dirty="0"/>
              <a:t>In-depth analysis of cardiovascular risk factors (demographics, health vitals, activities)</a:t>
            </a:r>
          </a:p>
          <a:p>
            <a:r>
              <a:rPr lang="en-US" dirty="0"/>
              <a:t>Specific to provinces across China</a:t>
            </a:r>
          </a:p>
          <a:p>
            <a:r>
              <a:rPr lang="en-US" dirty="0"/>
              <a:t>Dataset structure</a:t>
            </a:r>
          </a:p>
          <a:p>
            <a:r>
              <a:rPr lang="en-US" dirty="0"/>
              <a:t>Goals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6CFA6-F89E-346B-E31D-AE108C3140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461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0E47E-D228-15EB-5886-33E9AA18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059" y="82296"/>
            <a:ext cx="5000318" cy="741755"/>
          </a:xfrm>
        </p:spPr>
        <p:txBody>
          <a:bodyPr/>
          <a:lstStyle/>
          <a:p>
            <a:r>
              <a:rPr lang="en-US" dirty="0"/>
              <a:t>Team Members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D92AA-02C3-0589-7F6E-CAE1350D61AC}"/>
              </a:ext>
            </a:extLst>
          </p:cNvPr>
          <p:cNvSpPr txBox="1"/>
          <p:nvPr/>
        </p:nvSpPr>
        <p:spPr>
          <a:xfrm>
            <a:off x="961644" y="1144091"/>
            <a:ext cx="10268712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Roy Phelps (</a:t>
            </a:r>
            <a:r>
              <a:rPr lang="en-US" i="0" dirty="0">
                <a:effectLst/>
              </a:rPr>
              <a:t>rp994@drexel.edu)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Skills: </a:t>
            </a:r>
            <a:r>
              <a:rPr lang="en-US" sz="1400" b="0" i="0" dirty="0">
                <a:effectLst/>
              </a:rPr>
              <a:t>Python, </a:t>
            </a:r>
            <a:r>
              <a:rPr lang="en-US" sz="1400" b="0" i="0" dirty="0" err="1">
                <a:effectLst/>
              </a:rPr>
              <a:t>Jupyter</a:t>
            </a:r>
            <a:r>
              <a:rPr lang="en-US" sz="1400" b="0" i="0" dirty="0">
                <a:effectLst/>
              </a:rPr>
              <a:t> Notebooks, Documentation, Data cleaning and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Targeted Growth Skills: </a:t>
            </a:r>
            <a:r>
              <a:rPr lang="en-US" sz="1400" b="0" i="0" dirty="0">
                <a:effectLst/>
              </a:rPr>
              <a:t>Data cleaning with better Python code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Contributions: </a:t>
            </a:r>
            <a:r>
              <a:rPr lang="en-US" sz="1400" b="0" i="0" dirty="0">
                <a:effectLst/>
              </a:rPr>
              <a:t>Code development, documentation, Git/GitHub organization</a:t>
            </a:r>
            <a:endParaRPr lang="en-US" sz="1400" dirty="0"/>
          </a:p>
          <a:p>
            <a:endParaRPr lang="en-US" sz="1400" dirty="0"/>
          </a:p>
          <a:p>
            <a:r>
              <a:rPr lang="en-US" dirty="0"/>
              <a:t>Shad Scarboro (srs359@drexel.edu)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Skills: Python, Data sourcing, Data integration, Data cleaning and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Targeted Growth Skills: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Contributions: Code development, Data acquisition,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Leland Weeks (lhw22@drexel.edu)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Skills: Product Management, Data sourcing, Business Intelligence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Targeted Growth Skills: Big Data, Data Mining, Predictive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Contributions: Data selection, Data cleaning, Project coordination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dirty="0"/>
              <a:t>Evan Wessel (ew594@drexel.edu)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Skills: Writing, Data summaries, Research, Organization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Targeted Growth Skills: Python, Data acquisition and cleaning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Contributions: Data selection, Data summaries, Presentation material</a:t>
            </a:r>
          </a:p>
          <a:p>
            <a:endParaRPr lang="en-US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/>
          <a:lstStyle/>
          <a:p>
            <a:r>
              <a:rPr lang="en-US" dirty="0"/>
              <a:t>Data Source of Interest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8461" y="737115"/>
            <a:ext cx="4449712" cy="5407091"/>
          </a:xfrm>
        </p:spPr>
        <p:txBody>
          <a:bodyPr/>
          <a:lstStyle/>
          <a:p>
            <a:r>
              <a:rPr lang="en-US" dirty="0"/>
              <a:t>Kaggle.com</a:t>
            </a:r>
          </a:p>
          <a:p>
            <a:r>
              <a:rPr lang="en-US" dirty="0"/>
              <a:t>OpenAQ.org</a:t>
            </a:r>
          </a:p>
          <a:p>
            <a:r>
              <a:rPr lang="en-US" dirty="0"/>
              <a:t>WHO Global Health Observatory</a:t>
            </a:r>
          </a:p>
          <a:p>
            <a:r>
              <a:rPr lang="en-US" dirty="0"/>
              <a:t>Open Street Maps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4E393-EBA3-7065-59A3-A282C26FC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Acquisition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20F23-738F-D9F7-B5BA-3E38FE96A3D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Kaggle.com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Heart_attack_china.csv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CSV download</a:t>
            </a:r>
          </a:p>
          <a:p>
            <a:r>
              <a:rPr lang="en-US" dirty="0"/>
              <a:t>OpenAQ.org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Air quality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API</a:t>
            </a:r>
          </a:p>
          <a:p>
            <a:r>
              <a:rPr lang="en-US" dirty="0"/>
              <a:t>WHO Global Health Observatory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Blood pressure info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CSV via API</a:t>
            </a:r>
          </a:p>
          <a:p>
            <a:r>
              <a:rPr lang="en-US" dirty="0"/>
              <a:t>Open Street Maps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GIS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API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B6FE6-AB86-C7F7-7868-300F476EA70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520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88E30-E3C7-7300-2321-45B97523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to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7CAB4-7460-07A6-ED6D-9A9848DA483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Aggregate information from data sources resulting in singular dataset</a:t>
            </a:r>
          </a:p>
          <a:p>
            <a:r>
              <a:rPr lang="en-US" dirty="0"/>
              <a:t>Normalize clinical &amp; lifestyle flags</a:t>
            </a:r>
          </a:p>
          <a:p>
            <a:r>
              <a:rPr lang="en-US" dirty="0"/>
              <a:t>Convert text fields into ordered categories </a:t>
            </a:r>
          </a:p>
          <a:p>
            <a:r>
              <a:rPr lang="en-US" dirty="0"/>
              <a:t>Quality checks</a:t>
            </a:r>
          </a:p>
          <a:p>
            <a:r>
              <a:rPr lang="en-US" dirty="0"/>
              <a:t>Produce three outputs (analysis ready, model ready, merged with WHO context)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B2ADD-ADFC-1D15-20B2-22EA9C551F3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368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6FB1F-65FB-F8F1-E56B-162E9B793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Constructed Dataset – How can we use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CFA9B-1FB4-4B12-8AA6-D713AD1C555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Regional risk patterns</a:t>
            </a:r>
          </a:p>
          <a:p>
            <a:r>
              <a:rPr lang="en-US" dirty="0"/>
              <a:t>Age distribution</a:t>
            </a:r>
          </a:p>
          <a:p>
            <a:r>
              <a:rPr lang="en-US" dirty="0"/>
              <a:t>Gender differences</a:t>
            </a:r>
          </a:p>
          <a:p>
            <a:r>
              <a:rPr lang="en-US" dirty="0"/>
              <a:t>Lifestyle and clinical factors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DBE5E-F593-ADE6-7971-9F5FE6EDA42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71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BB71-53F1-A9CA-7FE3-0E9AAB082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C94F7-211A-A43B-5E6A-A1394502834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Clone repository</a:t>
            </a:r>
          </a:p>
          <a:p>
            <a:r>
              <a:rPr lang="en-US" dirty="0"/>
              <a:t>Retrieval process documented for ease of reproducibility</a:t>
            </a:r>
          </a:p>
          <a:p>
            <a:r>
              <a:rPr lang="en-US" dirty="0"/>
              <a:t>Standard folder structure used</a:t>
            </a:r>
          </a:p>
          <a:p>
            <a:r>
              <a:rPr lang="en-US" dirty="0"/>
              <a:t>Save as CSV to minimize ingestion friction and maximize readability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955FA-5310-DCA2-1369-581CC6F9DC2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376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F3C5A-B5AA-C1A4-3A16-E336FFFDA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Users and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CE7D4-0FCA-F89A-8795-E5DCF71F185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Users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Hospitals, cardiology departments, public health analysts, professors, and students</a:t>
            </a:r>
          </a:p>
          <a:p>
            <a:r>
              <a:rPr lang="en-US" dirty="0"/>
              <a:t>Applications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Developing predictive models for risk assessment, improving existing models, assist with early diagnosis and treatment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50544-B584-7242-FD55-34C3566282B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312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58BB0-3912-DA51-3B23-7A5211B9E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21BA1-2757-72F8-CF0C-CBDE89996C2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No dates for patient records or events</a:t>
            </a:r>
          </a:p>
          <a:p>
            <a:r>
              <a:rPr lang="en-US" dirty="0"/>
              <a:t>No data dictionary from source</a:t>
            </a:r>
          </a:p>
          <a:p>
            <a:r>
              <a:rPr lang="en-US" dirty="0"/>
              <a:t>No medical background amongst group members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6483D-2464-6418-8113-16B470BC9DD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792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7" y="3508311"/>
            <a:ext cx="9923770" cy="14387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Thank</a:t>
            </a:r>
            <a:br>
              <a:rPr lang="en-US" kern="1200">
                <a:latin typeface="+mj-lt"/>
                <a:ea typeface="+mj-ea"/>
                <a:cs typeface="+mj-cs"/>
              </a:rPr>
            </a:br>
            <a:r>
              <a:rPr lang="en-US" kern="1200">
                <a:latin typeface="+mj-lt"/>
                <a:ea typeface="+mj-ea"/>
                <a:cs typeface="+mj-cs"/>
              </a:rPr>
              <a:t>you</a:t>
            </a:r>
          </a:p>
        </p:txBody>
      </p:sp>
      <p:pic>
        <p:nvPicPr>
          <p:cNvPr id="8" name="Picture 7" descr="A computer with a funnel and icons&#10;&#10;AI-generated content may be incorrect.">
            <a:extLst>
              <a:ext uri="{FF2B5EF4-FFF2-40B4-BE49-F238E27FC236}">
                <a16:creationId xmlns:a16="http://schemas.microsoft.com/office/drawing/2014/main" id="{2F1683F2-B1A6-7673-3109-3D397E937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600" y="12"/>
            <a:ext cx="10361995" cy="3428977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5E5FB3-0827-334D-508D-BAE42C1F812F}"/>
              </a:ext>
            </a:extLst>
          </p:cNvPr>
          <p:cNvSpPr txBox="1"/>
          <p:nvPr/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sz="2000" kern="1200" spc="0" baseline="0">
                <a:latin typeface="+mn-lt"/>
                <a:ea typeface="+mn-ea"/>
                <a:cs typeface="+mn-cs"/>
              </a:rPr>
              <a:t>Roy Phelps, Shad Scarboro, Leland Weeks, Evan Wessel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{2BFEB60D-7251-43A8-8CEB-558003B0DE93}TF3977e381-cba5-49b1-ba43-b5d865517af907ebbda9_win32-372d4d6ae720</Template>
  <TotalTime>208</TotalTime>
  <Words>424</Words>
  <Application>Microsoft Office PowerPoint</Application>
  <PresentationFormat>Widescreen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Tisa Offc Serif Pro</vt:lpstr>
      <vt:lpstr>Univers Light</vt:lpstr>
      <vt:lpstr>Custom</vt:lpstr>
      <vt:lpstr>Cardiovascular Health Risk Factors  DSCI-511</vt:lpstr>
      <vt:lpstr>Introduction and Purpose</vt:lpstr>
      <vt:lpstr>Team Members</vt:lpstr>
      <vt:lpstr>Data Source of Interest</vt:lpstr>
      <vt:lpstr>Data Acquisition </vt:lpstr>
      <vt:lpstr>Approach to Preprocessing</vt:lpstr>
      <vt:lpstr>Constructed Dataset – How can we use it?</vt:lpstr>
      <vt:lpstr>Distribution Approach</vt:lpstr>
      <vt:lpstr>Potential Users and Applications</vt:lpstr>
      <vt:lpstr>Challenges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Wessel</dc:creator>
  <cp:lastModifiedBy>Evan Wessel</cp:lastModifiedBy>
  <cp:revision>1</cp:revision>
  <dcterms:created xsi:type="dcterms:W3CDTF">2025-11-22T13:54:48Z</dcterms:created>
  <dcterms:modified xsi:type="dcterms:W3CDTF">2025-11-22T17:24:27Z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